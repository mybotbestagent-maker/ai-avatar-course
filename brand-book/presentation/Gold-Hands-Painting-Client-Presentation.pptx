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F15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F15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-transparent-ma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40080"/>
            <a:ext cx="1645920" cy="1645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24688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15A24"/>
                </a:solidFill>
                <a:latin typeface="Montserrat"/>
              </a:rPr>
              <a:t>CLIENT PRESENTATION · MIAMI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926080"/>
            <a:ext cx="10058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Montserrat"/>
              </a:rPr>
              <a:t>Your home,
painted the right way.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846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Montserrat"/>
              </a:rPr>
              <a:t>Interior &amp; exterior · Free written estimates · 5-year warranty path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7607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15A24"/>
                </a:solidFill>
                <a:latin typeface="Montserrat"/>
              </a:rPr>
              <a:t>(786) 788-8714  ·  goldhandsmia.com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1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F15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15A24"/>
                </a:solidFill>
                <a:latin typeface="Montserrat"/>
              </a:rPr>
              <a:t>WHO WE 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22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A2744"/>
                </a:solidFill>
                <a:latin typeface="Montserrat"/>
              </a:rPr>
              <a:t>Local Miami painters you can trust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B6578"/>
                </a:solidFill>
                <a:latin typeface="Montserrat"/>
              </a:rPr>
              <a:t>Gold Hands Painting — painting division of Gold Hands Miami. Insured local crews across Miami-Dade &amp; Broward.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560320"/>
            <a:ext cx="265176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5E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72491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2744"/>
                </a:solidFill>
                <a:latin typeface="Montserrat"/>
              </a:rPr>
              <a:t>Free estimate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06324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B6578"/>
                </a:solidFill>
                <a:latin typeface="Montserrat"/>
              </a:rPr>
              <a:t>Written &amp; itemized — no pressure.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4720" y="2560320"/>
            <a:ext cx="265176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5E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0" y="272491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2744"/>
                </a:solidFill>
                <a:latin typeface="Montserrat"/>
              </a:rPr>
              <a:t>Insured crews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306324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B6578"/>
                </a:solidFill>
                <a:latin typeface="Montserrat"/>
              </a:rPr>
              <a:t>Background-checked painters.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2560320"/>
            <a:ext cx="265176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5E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272491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2744"/>
                </a:solidFill>
                <a:latin typeface="Montserrat"/>
              </a:rPr>
              <a:t>5-year warranty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306324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B6578"/>
                </a:solidFill>
                <a:latin typeface="Montserrat"/>
              </a:rPr>
              <a:t>Transferable path on premium 2-coat.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0" y="2560320"/>
            <a:ext cx="265176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5E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26880" y="272491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2744"/>
                </a:solidFill>
                <a:latin typeface="Montserrat"/>
              </a:rPr>
              <a:t>EN / ES / RU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0" y="306324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B6578"/>
                </a:solidFill>
                <a:latin typeface="Montserrat"/>
              </a:rPr>
              <a:t>Project manager support.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1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F15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15A24"/>
                </a:solidFill>
                <a:latin typeface="Montserrat"/>
              </a:rPr>
              <a:t>WHAT WE 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229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A2744"/>
                </a:solidFill>
                <a:latin typeface="Montserrat"/>
              </a:rPr>
              <a:t>Full painting services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37360"/>
            <a:ext cx="530352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E5E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01952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2744"/>
                </a:solidFill>
                <a:latin typeface="Montserrat"/>
              </a:rPr>
              <a:t>Interior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240280"/>
            <a:ext cx="4937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B6578"/>
                </a:solidFill>
                <a:latin typeface="Montserrat"/>
              </a:rPr>
              <a:t>Walls, ceilings, trim, doors &amp; baseboards. Accent walls &amp; full-home repaints. Condo/HOA scheduling &amp; COI. Daily cleanup. Typical: 2–3 days.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737360"/>
            <a:ext cx="530352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E5E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901952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2744"/>
                </a:solidFill>
                <a:latin typeface="Montserrat"/>
              </a:rPr>
              <a:t>Exterior &amp; stucco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240280"/>
            <a:ext cx="4937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B6578"/>
                </a:solidFill>
                <a:latin typeface="Montserrat"/>
              </a:rPr>
              <a:t>Stucco, siding, trim, fascia. Elastomeric / hurricane-ready options. Pressure washing. Colors for Florida light. Typical: 3–5 days.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114800"/>
            <a:ext cx="530352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5E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4279392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2744"/>
                </a:solidFill>
                <a:latin typeface="Montserrat"/>
              </a:rPr>
              <a:t>Color consultation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617720"/>
            <a:ext cx="4937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B6578"/>
                </a:solidFill>
                <a:latin typeface="Montserrat"/>
              </a:rPr>
              <a:t>Finishes that survive Miami sun, salt air, and HOA rules — before paint day.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4114800"/>
            <a:ext cx="530352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5E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4279392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2744"/>
                </a:solidFill>
                <a:latin typeface="Montserrat"/>
              </a:rPr>
              <a:t>Also available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617720"/>
            <a:ext cx="4937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B6578"/>
                </a:solidFill>
                <a:latin typeface="Montserrat"/>
              </a:rPr>
              <a:t>Popcorn ceiling removal, cabinet painting consults, punch-list touch-ups.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F15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F15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15A24"/>
                </a:solidFill>
                <a:latin typeface="Montserrat"/>
              </a:rPr>
              <a:t>HOW WE 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229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Montserrat"/>
              </a:rPr>
              <a:t>Clear process. No surprises.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011680"/>
            <a:ext cx="2148840" cy="3200400"/>
          </a:xfrm>
          <a:prstGeom prst="roundRect">
            <a:avLst/>
          </a:prstGeom>
          <a:solidFill>
            <a:srgbClr val="253456"/>
          </a:solidFill>
          <a:ln>
            <a:solidFill>
              <a:srgbClr val="3A4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176272"/>
            <a:ext cx="1783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15A24"/>
                </a:solidFill>
                <a:latin typeface="Montserrat"/>
              </a:rPr>
              <a:t>1. Call / request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514600"/>
            <a:ext cx="17830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Montserrat"/>
              </a:rPr>
              <a:t>Tell us the scope. We reply fast.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0" y="2011680"/>
            <a:ext cx="2148840" cy="3200400"/>
          </a:xfrm>
          <a:prstGeom prst="roundRect">
            <a:avLst/>
          </a:prstGeom>
          <a:solidFill>
            <a:srgbClr val="253456"/>
          </a:solidFill>
          <a:ln>
            <a:solidFill>
              <a:srgbClr val="3A4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26080" y="2176272"/>
            <a:ext cx="1783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15A24"/>
                </a:solidFill>
                <a:latin typeface="Montserrat"/>
              </a:rPr>
              <a:t>2. On-site measure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2514600"/>
            <a:ext cx="17830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Montserrat"/>
              </a:rPr>
              <a:t>Walk the job &amp; note condition.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0" y="2011680"/>
            <a:ext cx="2148840" cy="3200400"/>
          </a:xfrm>
          <a:prstGeom prst="roundRect">
            <a:avLst/>
          </a:prstGeom>
          <a:solidFill>
            <a:srgbClr val="253456"/>
          </a:solidFill>
          <a:ln>
            <a:solidFill>
              <a:srgbClr val="3A4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12080" y="2176272"/>
            <a:ext cx="1783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15A24"/>
                </a:solidFill>
                <a:latin typeface="Montserrat"/>
              </a:rPr>
              <a:t>3. Written quote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80" y="2514600"/>
            <a:ext cx="17830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Montserrat"/>
              </a:rPr>
              <a:t>Itemized price before start.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0" y="2011680"/>
            <a:ext cx="2148840" cy="3200400"/>
          </a:xfrm>
          <a:prstGeom prst="roundRect">
            <a:avLst/>
          </a:prstGeom>
          <a:solidFill>
            <a:srgbClr val="253456"/>
          </a:solidFill>
          <a:ln>
            <a:solidFill>
              <a:srgbClr val="3A4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0" y="2176272"/>
            <a:ext cx="1783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15A24"/>
                </a:solidFill>
                <a:latin typeface="Montserrat"/>
              </a:rPr>
              <a:t>4. Prep &amp; paint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0" y="2514600"/>
            <a:ext cx="17830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Montserrat"/>
              </a:rPr>
              <a:t>Protect, repair, prime, coat.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601200" y="2011680"/>
            <a:ext cx="2148840" cy="3200400"/>
          </a:xfrm>
          <a:prstGeom prst="roundRect">
            <a:avLst/>
          </a:prstGeom>
          <a:solidFill>
            <a:srgbClr val="253456"/>
          </a:solidFill>
          <a:ln>
            <a:solidFill>
              <a:srgbClr val="3A4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84080" y="2176272"/>
            <a:ext cx="1783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15A24"/>
                </a:solidFill>
                <a:latin typeface="Montserrat"/>
              </a:rPr>
              <a:t>5. Walkthrough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84080" y="2514600"/>
            <a:ext cx="17830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Montserrat"/>
              </a:rPr>
              <a:t>Final check + warranty docs.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1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F15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15A24"/>
                </a:solidFill>
                <a:latin typeface="Montserrat"/>
              </a:rPr>
              <a:t>ON YOUR JOB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229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A2744"/>
                </a:solidFill>
                <a:latin typeface="Montserrat"/>
              </a:rPr>
              <a:t>What happens from day one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37360"/>
            <a:ext cx="530352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E5E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01952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2744"/>
                </a:solidFill>
                <a:latin typeface="Montserrat"/>
              </a:rPr>
              <a:t>Before we start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240280"/>
            <a:ext cx="4937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B6578"/>
                </a:solidFill>
                <a:latin typeface="Montserrat"/>
              </a:rPr>
              <a:t>Confirm scope, colors, schedule in writing. Typical start 48–72h. HOA/condo COI when required.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737360"/>
            <a:ext cx="530352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E5E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901952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2744"/>
                </a:solidFill>
                <a:latin typeface="Montserrat"/>
              </a:rPr>
              <a:t>On paint days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240280"/>
            <a:ext cx="4937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B6578"/>
                </a:solidFill>
                <a:latin typeface="Montserrat"/>
              </a:rPr>
              <a:t>Protect furniture &amp; floors. Patch, cut clean edges. Primer + premium coats. Daily cleanup.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023360"/>
            <a:ext cx="530352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E5E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4187952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2744"/>
                </a:solidFill>
                <a:latin typeface="Montserrat"/>
              </a:rPr>
              <a:t>Materials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526280"/>
            <a:ext cx="4937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B6578"/>
                </a:solidFill>
                <a:latin typeface="Montserrat"/>
              </a:rPr>
              <a:t>Quality systems for Florida humidity — value, premium, or hurricane elastomeric.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4023360"/>
            <a:ext cx="530352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E5E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4187952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2744"/>
                </a:solidFill>
                <a:latin typeface="Montserrat"/>
              </a:rPr>
              <a:t>Your PM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526280"/>
            <a:ext cx="4937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B6578"/>
                </a:solidFill>
                <a:latin typeface="Montserrat"/>
              </a:rPr>
              <a:t>One contact updates you. Support in English, Spanish, Russian.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1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F15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15A24"/>
                </a:solidFill>
                <a:latin typeface="Montserrat"/>
              </a:rPr>
              <a:t>PREP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229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A2744"/>
                </a:solidFill>
                <a:latin typeface="Montserrat"/>
              </a:rPr>
              <a:t>Why our finish lasts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5B6578"/>
                </a:solidFill>
                <a:latin typeface="Montserrat"/>
              </a:rPr>
              <a:t>The finish only looks good if prep is right.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286000"/>
            <a:ext cx="347472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E5E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450592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2744"/>
                </a:solidFill>
                <a:latin typeface="Montserrat"/>
              </a:rPr>
              <a:t>Protect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788920"/>
            <a:ext cx="3108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B6578"/>
                </a:solidFill>
                <a:latin typeface="Montserrat"/>
              </a:rPr>
              <a:t>Masking, drop cloths, plastic — floors, furniture, fixtures covered.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2286000"/>
            <a:ext cx="347472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E5E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2450592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2744"/>
                </a:solidFill>
                <a:latin typeface="Montserrat"/>
              </a:rPr>
              <a:t>Repair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2788920"/>
            <a:ext cx="3108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B6578"/>
                </a:solidFill>
                <a:latin typeface="Montserrat"/>
              </a:rPr>
              <a:t>Patch holes, fix cracks, sand, caulk. Exterior wash &amp; crack repair when needed.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2286000"/>
            <a:ext cx="347472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E5E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2450592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2744"/>
                </a:solidFill>
                <a:latin typeface="Montserrat"/>
              </a:rPr>
              <a:t>Prime &amp; coat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2788920"/>
            <a:ext cx="3108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B6578"/>
                </a:solidFill>
                <a:latin typeface="Montserrat"/>
              </a:rPr>
              <a:t>Proper primer where needed, then clean premium coats with sharp lines.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F15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F15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15A24"/>
                </a:solidFill>
                <a:latin typeface="Montserrat"/>
              </a:rPr>
              <a:t>PRICING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229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Montserrat"/>
              </a:rPr>
              <a:t>Clear price before we start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5303520" cy="1828800"/>
          </a:xfrm>
          <a:prstGeom prst="roundRect">
            <a:avLst/>
          </a:prstGeom>
          <a:solidFill>
            <a:srgbClr val="253456"/>
          </a:solidFill>
          <a:ln>
            <a:solidFill>
              <a:srgbClr val="3A4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93392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15A24"/>
                </a:solidFill>
                <a:latin typeface="Montserrat"/>
              </a:rPr>
              <a:t>Free written estimate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31720"/>
            <a:ext cx="4937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Montserrat"/>
              </a:rPr>
              <a:t>On-site measure + itemized quote. Usually within 24–48 hours.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828800"/>
            <a:ext cx="5303520" cy="1828800"/>
          </a:xfrm>
          <a:prstGeom prst="roundRect">
            <a:avLst/>
          </a:prstGeom>
          <a:solidFill>
            <a:srgbClr val="253456"/>
          </a:solidFill>
          <a:ln>
            <a:solidFill>
              <a:srgbClr val="3A4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993392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15A24"/>
                </a:solidFill>
                <a:latin typeface="Montserrat"/>
              </a:rPr>
              <a:t>No surprise fees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331720"/>
            <a:ext cx="4937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Montserrat"/>
              </a:rPr>
              <a:t>Agreed scope = agreed price. Changes only with your OK.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931920"/>
            <a:ext cx="5303520" cy="1828800"/>
          </a:xfrm>
          <a:prstGeom prst="roundRect">
            <a:avLst/>
          </a:prstGeom>
          <a:solidFill>
            <a:srgbClr val="253456"/>
          </a:solidFill>
          <a:ln>
            <a:solidFill>
              <a:srgbClr val="3A4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4096512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15A24"/>
                </a:solidFill>
                <a:latin typeface="Montserrat"/>
              </a:rPr>
              <a:t>AI budget preview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434840"/>
            <a:ext cx="4937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Montserrat"/>
              </a:rPr>
              <a:t>Rough range online, then free on-site quote confirms exact price.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931920"/>
            <a:ext cx="5303520" cy="1828800"/>
          </a:xfrm>
          <a:prstGeom prst="roundRect">
            <a:avLst/>
          </a:prstGeom>
          <a:solidFill>
            <a:srgbClr val="253456"/>
          </a:solidFill>
          <a:ln>
            <a:solidFill>
              <a:srgbClr val="3A4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4096512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15A24"/>
                </a:solidFill>
                <a:latin typeface="Montserrat"/>
              </a:rPr>
              <a:t>Special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434840"/>
            <a:ext cx="4937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Montserrat"/>
              </a:rPr>
              <a:t>$0.99/sq ft when painted area &gt; 3,000 sq ft (Standard materials).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1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F15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15A24"/>
                </a:solidFill>
                <a:latin typeface="Montserrat"/>
              </a:rPr>
              <a:t>PROTECTION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229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A2744"/>
                </a:solidFill>
                <a:latin typeface="Montserrat"/>
              </a:rPr>
              <a:t>Warranty &amp; insurance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5303520" cy="3657600"/>
          </a:xfrm>
          <a:prstGeom prst="roundRect">
            <a:avLst/>
          </a:prstGeom>
          <a:solidFill>
            <a:srgbClr val="FFFFFF"/>
          </a:solidFill>
          <a:ln>
            <a:solidFill>
              <a:srgbClr val="E5E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93392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2744"/>
                </a:solidFill>
                <a:latin typeface="Montserrat"/>
              </a:rPr>
              <a:t>5-year transferable warranty path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31720"/>
            <a:ext cx="49377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B6578"/>
                </a:solidFill>
                <a:latin typeface="Montserrat"/>
              </a:rPr>
              <a:t>Peeling, blistering, flaking &amp; excessive fading on premium 2-coat with standard prep. Can transfer to a buyer. Not storm/substrate failure.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828800"/>
            <a:ext cx="5303520" cy="3657600"/>
          </a:xfrm>
          <a:prstGeom prst="roundRect">
            <a:avLst/>
          </a:prstGeom>
          <a:solidFill>
            <a:srgbClr val="FFFFFF"/>
          </a:solidFill>
          <a:ln>
            <a:solidFill>
              <a:srgbClr val="E5E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993392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2744"/>
                </a:solidFill>
                <a:latin typeface="Montserrat"/>
              </a:rPr>
              <a:t>Insured &amp; bonded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331720"/>
            <a:ext cx="49377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B6578"/>
                </a:solidFill>
                <a:latin typeface="Montserrat"/>
              </a:rPr>
              <a:t>General Liability. Background-checked crews. COI for HOA/condo. We make workmanship right.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1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F15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15A24"/>
                </a:solidFill>
                <a:latin typeface="Montserrat"/>
              </a:rPr>
              <a:t>WHY GOLD HANDS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229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A2744"/>
                </a:solidFill>
                <a:latin typeface="Montserrat"/>
              </a:rPr>
              <a:t>Promises we keep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37360"/>
            <a:ext cx="356616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E5E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0195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2744"/>
                </a:solidFill>
                <a:latin typeface="Montserrat"/>
              </a:rPr>
              <a:t>Upfront pricing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240280"/>
            <a:ext cx="32004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B6578"/>
                </a:solidFill>
                <a:latin typeface="Montserrat"/>
              </a:rPr>
              <a:t>Price for agreed scope before we begin.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737360"/>
            <a:ext cx="356616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E5E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90195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2744"/>
                </a:solidFill>
                <a:latin typeface="Montserrat"/>
              </a:rPr>
              <a:t>Clean jobsite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240280"/>
            <a:ext cx="32004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B6578"/>
                </a:solidFill>
                <a:latin typeface="Montserrat"/>
              </a:rPr>
              <a:t>Protect your home and clean as we go.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59" y="1737360"/>
            <a:ext cx="356616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E5E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39" y="190195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2744"/>
                </a:solidFill>
                <a:latin typeface="Montserrat"/>
              </a:rPr>
              <a:t>On-time updates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39" y="2240280"/>
            <a:ext cx="32004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B6578"/>
                </a:solidFill>
                <a:latin typeface="Montserrat"/>
              </a:rPr>
              <a:t>Your PM keeps you informed.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931920"/>
            <a:ext cx="356616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E5E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409651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2744"/>
                </a:solidFill>
                <a:latin typeface="Montserrat"/>
              </a:rPr>
              <a:t>Make-right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434840"/>
            <a:ext cx="32004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B6578"/>
                </a:solidFill>
                <a:latin typeface="Montserrat"/>
              </a:rPr>
              <a:t>Not happy? We come back and fix it.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89120" y="3931920"/>
            <a:ext cx="356616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E5E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0" y="409651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2744"/>
                </a:solidFill>
                <a:latin typeface="Montserrat"/>
              </a:rPr>
              <a:t>Local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4434840"/>
            <a:ext cx="32004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B6578"/>
                </a:solidFill>
                <a:latin typeface="Montserrat"/>
              </a:rPr>
              <a:t>Miami-Dade &amp; Broward — 130+ ZIP codes.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38159" y="3931920"/>
            <a:ext cx="356616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E5E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21039" y="409651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2744"/>
                </a:solidFill>
                <a:latin typeface="Montserrat"/>
              </a:rPr>
              <a:t>Fast start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39" y="4434840"/>
            <a:ext cx="32004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B6578"/>
                </a:solidFill>
                <a:latin typeface="Montserrat"/>
              </a:rPr>
              <a:t>Often within 48–72 hours.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F15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F15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-transparent-ma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548640"/>
            <a:ext cx="1463040" cy="14630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22860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15A24"/>
                </a:solidFill>
                <a:latin typeface="Montserrat"/>
              </a:rPr>
              <a:t>NEXT STEP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7432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Montserrat"/>
              </a:rPr>
              <a:t>Let’s paint your home.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0233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Montserrat"/>
              </a:rPr>
              <a:t>Free on-site written estimate. Clear scope. Clean finish.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846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15A24"/>
                </a:solidFill>
                <a:latin typeface="Montserrat"/>
              </a:rPr>
              <a:t>(786) 788-8714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669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Montserrat"/>
              </a:rPr>
              <a:t>goldhandsmia.com  ·  @_gold_hands_  ·  Miami-Dade &amp; Broward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